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3A26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26185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76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DRIVEN. SAFER TOMORROW.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SAFETY ANALYSIS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PROJECT DATASET OVERVIEW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3703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the Indian Road Accidents dataset used to build a six-page Power BI dashboard. This presentation walks through the dataset, cleaning steps, dashboard pages, chart choices, and the insights each page reveals.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84632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3A26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4846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indian_road_accidents_dataset.csv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Sourav  |  B.Tech CSE, Data Analytics Portfolio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do, and the scale of data behind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01368"/>
            <a:ext cx="208483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9019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16352" y="1801368"/>
            <a:ext cx="208483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07792" y="2377440"/>
            <a:ext cx="19019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84064" y="169164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84064" y="1801368"/>
            <a:ext cx="208483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75504" y="2377440"/>
            <a:ext cx="19019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51776" y="169164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51776" y="1801368"/>
            <a:ext cx="208483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2023-24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43216" y="2377440"/>
            <a:ext cx="19019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Spanned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19488" y="1691640"/>
            <a:ext cx="208483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19488" y="1801368"/>
            <a:ext cx="208483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1B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710928" y="2377440"/>
            <a:ext cx="19019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110642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794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teacher-assigned road-safety analytics project, this dashboard turns raw accident records into a decision-ready tool: identifying where accidents cluster, what causes them, who is most affected, and when they spike — so road-safety measures can be targeted rather than generic.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4791456"/>
            <a:ext cx="219456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68680" y="5184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+ Power Query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611880" y="4709160"/>
            <a:ext cx="384048" cy="384048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4791456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611880" y="5184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DAX measures across 14 sections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355080" y="4709160"/>
            <a:ext cx="384048" cy="384048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47914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355080" y="5184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 pages, drill-through detail view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9098280" y="4709160"/>
            <a:ext cx="384048" cy="384048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4791456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098280" y="5184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slicers on every page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Chart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in this dashboard was picked to answer one kind of question well.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56232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8424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0136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17320" y="22219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AREA CHART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514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points across months so rising or falling accident counts are visible at a glance.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856232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8424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80136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178040" y="22219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 CHART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537960" y="2514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values side by side so causes, states, or vehicle types can be ranked and compared.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630168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44728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 split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417320" y="38679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 CHART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77240" y="4160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total accidents break into shares — severity, weather, or alcohol involvement.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30936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37960" y="3502152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630168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78040" y="344728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measures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178040" y="38679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537960" y="41605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speed limit against accident count to reveal correlation and outlier zones.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48640" y="4892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77240" y="5148072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276088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509320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pattern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417320" y="55138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 / TOP-N BARS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777240" y="5806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accident volume to states and districts so hotspots are immediately clear.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309360" y="4892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537960" y="5148072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5276088"/>
            <a:ext cx="201168" cy="2011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78040" y="5093208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values / record detail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7178040" y="55138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DRILL-THROUGH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6537960" y="5806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precise, row-level figures when an exact record matters more than a shape.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accident records across 18 columns describe crashes on Indian roads — enough breadth to support every chart in this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9397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02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identity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3591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Accident_ID, Date, Year, Quarter, Month, Day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6334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ID plus a full calendar breakdown makes every trend, seasonal, and weekday view possible.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09360" y="1737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9397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9202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37960" y="23591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District, Highway_Type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537960" y="26334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states and 218 districts give the dataset enough spatial detail to rank hotspots and map demand.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73989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5661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77240" y="40050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Visibility, Road_Condition, Rainfall_mm, Temperature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77240" y="42793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and categorical environment fields describe the setting of each crash — clear vs. foggy, dry vs. wet.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30936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37960" y="361188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739896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78040" y="35661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profile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537960" y="40050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Driver_Age, Driver_Gender, Driver_Experience_Years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537960" y="42793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fields describe who was behind the wheel, from teen learners to decades-experienced drivers.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5029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385816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5212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equipment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77240" y="56509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Helmet_Used, Seatbelt_Used, Alcohol_Involvement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77240" y="59253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fields capture whether basic safety measures were in place at the time of the crash.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309360" y="5029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537960" y="525780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5385816"/>
            <a:ext cx="201168" cy="2011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78040" y="52120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&amp; cause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537960" y="56509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Accident_Cause, Vehicle_Type, Casualties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537960" y="59253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dependent variables — what happened, why, in what vehicle, and how serious the result was.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 — Part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quality checks on conditions and safety-equipment fields, before any chart was built.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6" name="Image 0" descr="images/Screenshot_2026-07-01_1409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885" y="1783080"/>
            <a:ext cx="4530471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Visibility &amp; Road_Condition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691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9" name="Image 1" descr="images/Screenshot_2026-07-01_1411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836" y="1783080"/>
            <a:ext cx="3173128" cy="2103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Helmet_Used, Seatbelt_Used &amp; Alcohol_Involvement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94360" y="422452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4160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(94% valid, 19 distinct values) and Road_Condition (94% valid, 6 distinct) each carry a small ~6% empty share — flagged for imputation, not deletion.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" y="464515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581144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is the cleanest of the three at 97% valid across just 5 distinct categories (Good, Moderate, Poor, etc.).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" y="506577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50017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Helmet_Used and Seatbelt_Used are mostly empty (65% and 75% empty) — likely “not applicable” for non-two-wheeler / non-front-seat records rather than true missing data.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" y="5486400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4223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Alcohol_Involvement shows 12 distinct values for what should be a Yes/No field, including a stray “0” entry — standardized during cleaning.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 — Part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quality checks on driver demographics and continuous weather measures.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6" name="Image 0" descr="images/Screenshot_2026-07-01_141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544" y="1783080"/>
            <a:ext cx="3473152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Driver_Age, Driver_Gender &amp; Driver_Experience_Years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6916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9" name="Image 1" descr="images/Screenshot_2026-07-01_1411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675" y="1783080"/>
            <a:ext cx="3031450" cy="2103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Rainfall_mm &amp; Temperature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94360" y="4224528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4160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Driver_Age is 100% valid, but Driver_Gender shows 10 distinct values for a 3-category field — casing inconsistencies like “Male”, “MALE” and “m” all needed standardizing to one label.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" y="4736592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6725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Driver_Experience_Years is 94% valid with 46 distinct values across a 6% empty share — cleaned with median imputation via List.Median() rather than dropping rows.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" y="5248656"/>
            <a:ext cx="82296" cy="822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518464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Rainfall_mm (94% valid, 162 distinct) and Temperature (96% valid, 276 distinct) are both continuous fields with a small empty share, imputed the same way to preserve distribution shape.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in Power BI Desktop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a published dashboard — the workflow behind every page in this report.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CSV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directly to indian_road_accidents_dataset.csv and loaded it into Power BI Desktop as the source table.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0312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262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SHAPE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52628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 types, standardized categories, and imputed missing values (e.g. List.Median() for numeric gaps).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46720" y="173736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75320" y="1965960"/>
            <a:ext cx="502920" cy="5029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0312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27532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&amp; DAX MEASURES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27532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14-section DAX measures file — totals, rates, and KPIs layered on top of the flat table.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3484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77240" y="5166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DONUT, SCATTER, TABLE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777240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one chart type per guiding question across six report pages, plus a drill-through detail view.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29768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26280" y="4297680"/>
            <a:ext cx="502920" cy="5029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434840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2628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interactivity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26280" y="5166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STATE, WEATHER, CAUSE, ROAD TYPE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526280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synced slicers so every visual on a page filters together the moment a user picks one value.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804672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275320" y="4297680"/>
            <a:ext cx="502920" cy="502920"/>
          </a:xfrm>
          <a:prstGeom prst="ellipse">
            <a:avLst/>
          </a:prstGeom>
          <a:solidFill>
            <a:srgbClr val="2D1B69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434840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7532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share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275320" y="5166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8275320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the report so the dashboard can be viewed, refreshed, and shared online.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389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749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overall scale and severity picture of road accidents across India?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8" name="Image 1" descr="images/Screenshot_2026-07-03_1208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7187"/>
            <a:ext cx="7040880" cy="41494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92440" y="128016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366760" y="1508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366760" y="20208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8595360" y="19110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total accidents on record, with roughly 1,000 fatalities and 3,000 injured — an average response time of 25.78 minutes.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66760" y="29352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8595360" y="28254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damage cost per incident runs about ₹69.16K, underlining the economic weight of road accidents.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66760" y="38496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595360" y="37398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splits fairly evenly across Minor, Serious and Fatal, with Serious the single largest share at roughly 37%.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366760" y="47640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8595360" y="46542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and Tamil Nadu lead the Top 10 states; Clear weather accounts for the large majority of recorded accidents — a function of exposure, not necessarily risk.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1 of 6 — Overview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389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 Analysis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749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accidents, which vehicles are involved, and under what conditions?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8" name="Image 1" descr="images/Screenshot_2026-07-03_1207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37233"/>
            <a:ext cx="7040880" cy="426933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92440" y="128016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366760" y="1508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366760" y="20208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8595360" y="19110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Overspeeding is the leading recorded cause, followed by Drunk Driving and Mobile Phone Usage — all three squarely behaviour-driven.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66760" y="29352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8595360" y="28254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Two-Wheelers are involved in 36% of accidents, more than double any other vehicle type; Pedestrian-involved cases follow at 23%.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66760" y="38496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595360" y="37398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Daylight sees the highest accident count of any light condition, ahead of both streetlit and unlit night conditions.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366760" y="47640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8595360" y="46542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was recorded as a factor in about 12% of accidents; 246 cases were hit-and-run, and average driver age is 33.7 years.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2 of 6 — Accident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389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Insights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749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accidents cluster, and how does urban demand compare to rural?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8" name="Image 1" descr="images/Screenshot_2026-07-03_12073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78926"/>
            <a:ext cx="7040880" cy="41859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92440" y="128016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366760" y="1508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366760" y="20208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8595360" y="19110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span 32 states and 218 districts, with Uttar Pradesh, Tamil Nadu and Maharashtra topping the state ranking.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66760" y="29352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8595360" y="28254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roads account for roughly 57% of accidents versus 43% rural — consistent with higher urban traffic density.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66760" y="38496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595360" y="37398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Roads see the most accidents of any highway type, well ahead of National Highways and Village Roads.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366760" y="47640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8595360" y="46542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Uttar_District-5 tops the district-level table at 31 recorded accidents, narrowly ahead of Tamil_District-8 at 29.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3 of 6 — Location Insights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389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Analysis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749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safety-equipment compliance and road conditions relate to accident causes?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8" name="Image 1" descr="images/Screenshot_2026-07-03_1207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31" y="1417320"/>
            <a:ext cx="6742218" cy="47091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92440" y="128016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366760" y="1508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366760" y="20208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8595360" y="19110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usage sits at just 20% and seatbelt usage at 16% among recorded accidents — a significant compliance gap worth flagging.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66760" y="29352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8595360" y="28254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road conditions account for 47% of accidents by volume, simply because most driving happens on dry roads, not because dry roads are riskier.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66760" y="38496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595360" y="37398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Limit vs. Accidents scatter shows a clear positive trend — higher posted speed limits associate with more accidents.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366760" y="47640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8595360" y="46542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 again shows the highest raw accident count, reinforcing that exposure (more driving in clear weather) drives volume more than hazard alone.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4 of 6 — Cause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389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Analysis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749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accidents spike — by month, weekday, holiday or festival season?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8" name="Image 1" descr="images/Screenshot_2026-07-03_12065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46733"/>
            <a:ext cx="7040880" cy="40503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92440" y="128016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366760" y="1508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366760" y="20208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8595360" y="19110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stands out as the peak month for accidents, with the monthly trend fluctuating between roughly 90 and 130 across the year.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66760" y="29352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8595360" y="28254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Festival-season records add 187 accidents on top of the baseline, while holidays alone account for 133 — about 7% of the yearly total.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66760" y="38496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595360" y="37398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are fairly evenly spread across the week, with Saturday and Tuesday running marginally ahead of the other days.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366760" y="47640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8595360" y="46542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accident count sits at 158.33, giving a steady baseline against which spikes like October and festival season stand out.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5 of 6 — Time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3891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Records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00200" y="749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 analyst search, filter and inspect individual accident records?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pic>
        <p:nvPicPr>
          <p:cNvPr id="8" name="Image 1" descr="images/Screenshot_2026-07-03_12063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8989"/>
            <a:ext cx="7040880" cy="422582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092440" y="1280160"/>
            <a:ext cx="3520440" cy="4983480"/>
          </a:xfrm>
          <a:prstGeom prst="roundRect">
            <a:avLst>
              <a:gd name="adj" fmla="val 2078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366760" y="1508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366760" y="20208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8595360" y="19110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row-level drill-through table exposes all 12 core fields per accident — ID, date, location, severity, cause, weather, road and vehicle type.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366760" y="29352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8595360" y="28254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Year / State / Weather / Accident_Cause / Road_Type filters used on other pages apply here, keeping investigation consistent with the summary views.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66760" y="38496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8595360" y="37398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exists for precision: when a stakeholder needs the exact record behind a chart bar, this table is the source of truth.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366760" y="4764024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4"/>
          <p:cNvSpPr/>
          <p:nvPr/>
        </p:nvSpPr>
        <p:spPr>
          <a:xfrm>
            <a:off x="8595360" y="46542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AE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the five aggregate pages by supporting audit-style, case-by-case review rather than pattern-level analysis.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6 of 6 — Detailed Records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&amp; KPI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card on the dashboard is backed by a purpose-built DAX measure, organized into 14 logical sections.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9397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65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Totals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Accidents, Total Fatalities, Total Injured, Total Districts/States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17373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9397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659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Ratio KPIs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37960" y="24231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Usage %, Seatbelt Usage %, Alcohol Involvement %, Hit &amp; Run Cases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73989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6118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77240" y="40690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Time, Average Damage Cost, Average Driver Age, Average Monthly Accidents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30936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37960" y="361188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73989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36118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537960" y="40690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Trend, Peak Month, Holiday Accidents, Festival Season Accidents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029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385816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257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Measures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77240" y="57150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vs. Rural Split, Top-N States/Districts, Highway Type Totals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309360" y="502920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37960" y="5257800"/>
            <a:ext cx="457200" cy="457200"/>
          </a:xfrm>
          <a:prstGeom prst="ellipse">
            <a:avLst/>
          </a:prstGeom>
          <a:solidFill>
            <a:srgbClr val="E3DCF7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5385816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78040" y="5257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Safety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537960" y="57150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Distribution, Road Condition Share, Weather Impact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1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&amp; Questions We Found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dashboard surfaced a few patterns worth a second look before trusting every number at face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FFE8D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5740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47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/ Seatbelt mostly empty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17320" y="2167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/ 25% valid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37760" y="1847088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missing 65%/75% genuinely unrecorded, or structurally not applicable (e.g. car occupants for Helmet_Used)? Needs a data-dictionary check.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67004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862072"/>
            <a:ext cx="457200" cy="457200"/>
          </a:xfrm>
          <a:prstGeom prst="ellipse">
            <a:avLst/>
          </a:prstGeom>
          <a:solidFill>
            <a:srgbClr val="FFE8D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99008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7797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Driver_Gender casing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417320" y="3099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distinct values, 3 real categories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37760" y="2779776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“Male”, “MALE” and “m” all needed standardizing — worth pushing the fix upstream into data collection.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60273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FFE8D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92277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7124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Urban Accidents card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417320" y="40325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Insights page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937760" y="3712464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Urban and a neighboring KPI card display “1K” — likely a copy-paste measure binding that needs correcting.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453542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4727448"/>
            <a:ext cx="457200" cy="457200"/>
          </a:xfrm>
          <a:prstGeom prst="ellipse">
            <a:avLst/>
          </a:prstGeom>
          <a:solidFill>
            <a:srgbClr val="FFE8D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855464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4645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shows a raw number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417320" y="4965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 page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937760" y="4645152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KPI displays ‘10’ instead of ‘October’ — a formatting fix so the card reads correctly at a glance.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548640" y="546811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3A2A6B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77240" y="5660136"/>
            <a:ext cx="457200" cy="457200"/>
          </a:xfrm>
          <a:prstGeom prst="ellipse">
            <a:avLst/>
          </a:prstGeom>
          <a:solidFill>
            <a:srgbClr val="FFE8D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788152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5577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1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Alcohol_Involvement stray value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417320" y="5897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distinct for a Yes/No field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937760" y="557784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“0” entry sits alongside Yes/No — cleaned in this build, but flags a validation rule worth adding at entry.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3A26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26185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143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this dashboard is decorative. Each chart type was chosen because it was the clearest way to answer that page’s guiding question.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4216E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32257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167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2532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Area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51960" y="1965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4216E"/>
          </a:solidFill>
          <a:ln/>
        </p:spPr>
      </p:sp>
      <p:sp>
        <p:nvSpPr>
          <p:cNvPr id="14" name="Shape 10"/>
          <p:cNvSpPr/>
          <p:nvPr/>
        </p:nvSpPr>
        <p:spPr>
          <a:xfrm>
            <a:off x="4480560" y="2194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3225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2167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20640" y="2532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Column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955280" y="19659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4216E"/>
          </a:solidFill>
          <a:ln/>
        </p:spPr>
      </p:sp>
      <p:sp>
        <p:nvSpPr>
          <p:cNvPr id="19" name="Shape 14"/>
          <p:cNvSpPr/>
          <p:nvPr/>
        </p:nvSpPr>
        <p:spPr>
          <a:xfrm>
            <a:off x="8183880" y="2194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232257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23960" y="21671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823960" y="2532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Pie, Donut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3520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4216E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87705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17320" y="37216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417320" y="40873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251960" y="3520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4216E"/>
          </a:solidFill>
          <a:ln/>
        </p:spPr>
      </p:sp>
      <p:sp>
        <p:nvSpPr>
          <p:cNvPr id="29" name="Shape 22"/>
          <p:cNvSpPr/>
          <p:nvPr/>
        </p:nvSpPr>
        <p:spPr>
          <a:xfrm>
            <a:off x="4480560" y="37490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877056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20640" y="37216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5120640" y="40873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Top-N, Map-style bars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7955280" y="35204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34216E"/>
          </a:solidFill>
          <a:ln/>
        </p:spPr>
      </p:sp>
      <p:sp>
        <p:nvSpPr>
          <p:cNvPr id="34" name="Shape 26"/>
          <p:cNvSpPr/>
          <p:nvPr/>
        </p:nvSpPr>
        <p:spPr>
          <a:xfrm>
            <a:off x="8183880" y="37490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6" y="3877056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823960" y="37216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8823960" y="40873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Drill-through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548640" y="5989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Road Accidents Dataset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Safety Analysis Dashboard</dc:title>
  <dc:subject>PptxGenJS Presentation</dc:subject>
  <dc:creator>Sourav</dc:creator>
  <cp:lastModifiedBy>Sourav</cp:lastModifiedBy>
  <cp:revision>1</cp:revision>
  <dcterms:created xsi:type="dcterms:W3CDTF">2026-07-03T06:46:24Z</dcterms:created>
  <dcterms:modified xsi:type="dcterms:W3CDTF">2026-07-03T06:46:24Z</dcterms:modified>
</cp:coreProperties>
</file>